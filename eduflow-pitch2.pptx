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21.png" ContentType="image/png"/>
  <Override PartName="/ppt/media/image19.png" ContentType="image/png"/>
  <Override PartName="/ppt/media/image5.png" ContentType="image/png"/>
  <Override PartName="/ppt/media/image14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media/image2.png" ContentType="image/png"/>
  <Override PartName="/ppt/media/image11.png" ContentType="image/png"/>
  <Override PartName="/ppt/media/image8.png" ContentType="image/png"/>
  <Override PartName="/ppt/media/image17.png" ContentType="image/png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notesSlides/_rels/notesSlide5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перемещения страницы щёлкните 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Для правки формата примечаний щёлкните мышью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&lt;верхний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B200A1C-DFD3-4F4B-B189-3CE4F1623A4F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[0:00–0:10] ОТКРЫТИЕ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Привет! Я Антон Афанасьев, основатель EduFlow. Мы делаем тренажер, который собирает проекты, команды и дедлайны в одном месте — для проектного обучения в вузах и для организаторов событий.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DF67E50-5F52-495C-B356-B64F4B92DEA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[0:10–0:45] ПРОБЛЕМА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В проектном обучении одновременно десятки людей и команд. Сложно контролировать весь процесс. Данная система позволяет это контролировать.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556DA85-8761-46B4-8B57-C20D320C50B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[0:45–1:07] ЦЕЛЕВАЯ АУДИТОРИЯ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Команды и вузы:   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Организаторы событий: хакатоны и акселераторы, 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Продуктовые команды: 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доска, этапы и история решений вместо мессенджеров. И это не гипотеза: с 2023 года каждый год 23–27 проектов и 180–220 участников, в 2026 — 26 проектов и 186 участников.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C0D86B7-4CEA-4049-A484-D4C5060E0FD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[1:07–1:22] КЕЙС ФПИН ИТМО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Мы не гипотеза: тренажер работает в ФПИН ИТМО с 2023 года.  Магистрант собирает команду, пишет ТЗ и ведёт проект как руководитель и ментор, а бакалавры реализуют. Бакалвар создает резюме и откликается.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17B3C1D-C4AF-45F4-8852-AAA89B28DDB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[1:22–1:35] ПРОДУКТ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Вот два реальных экрана. Слева — единый список проектов: поиск, фильтры по этапу, тегу, участнику и сроку, карточки со статусом, прогрессом и командой. Справа — канбан проекта: колонки с WIP-лимитами, задачи с приоритетом, дедлайном и исполнителями. Логика простая: пространство → проект с этапами и командой → доска с задачами, ТЗ и вики.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Если спросят: за одним канбаном могут работать несколько команд — это разные проекты в одном пространстве.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5EA2F24-FE34-4C47-86F8-60CC9CD6B55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[1:35–1:37] ИНТЕРФЕЙС · ЭКРАНЫ 1–2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64712EF-FBD2-41AC-A131-E6F941F01C3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[1:37–1:39] ИНТЕРФЕЙС · ЭКРАНЫ 3–4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818857C-3CDD-44CF-816C-9F645645122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[1:39–1:40] ИНТЕРФЕЙС · ЭКРАНЫ 5–6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Вики проекта, история активности и уведомления из всех проектов.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25237C8-B74B-4F28-A75C-DC94E02CA4C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[1:40–1:55] ВОЗМОЖНОСТИ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6C1355D-D52F-4802-94EA-3BBA7BF4026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[1:55–2:05] ЧЕМ ОТЛИЧАЕМСЯ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Прямых конкурентов в нашей нише нет. 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Так конкуренты в поной мере покарывают задачи необходимы для оброзвательного процесса.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3A5D9DA-F46F-4F3E-9193-8B7A24E2762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[2:05–2:20] БИЗНЕС-МОДЕЛЬ · ПОТОКИ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Три потока выручки. Первый — подписка команд: расширенные лимиты и возможности. Второй — лицензии вузам: места, администрирование и оценивание. Третий — события: оплата за мероприятие. Конкретные цены не называю — валидируем на пилотах. Почему сразу три: бесплатный вход даёт трафик, B2B-лицензии — крупный чек, а события — быстрый первый платящий клиент.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D235711-2DEC-4F98-A71B-4EC7111F94C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[2:20–2:30] СТАТУС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Это не идея, а работающий сервис. Продукт: регистрация и профиль с резюме, распределение с откликами и приглашениями, пространства, проекты с этапами, ТЗ и вики. тренажер: 49 таблиц, 181 эндпоинт, 52 права и 4 роли, FastAPI и React, мониторинг, CI и тесты. И главное — тракшн: четвёртый год в ФПИН ИТМО.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293FE3B-0009-4EE9-9A36-303D546FABE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[2:30–2:37] РОАДМАП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Три линии. Продукт: стабильность после обновления, публичные пространства, архивирование рабочих пространств и оценивание в реальном времени на защите работ. B2B и тренажер: интеграции GitHub и ITMO ID, поддомен и отдельное пространство для компании, лендинг под B2B, пилоты в вузах и биллинг. Оплата: подключение сервиса оплаты (RU/EN).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82E22CC-73CE-4249-B7C0-3287D22C9E3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[2:37–2:45] ЦЕЛЬ НА АКСЕЛЕРАТОР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Цель — 10 первых платящих клиентов. Тестирование и масштабирование: 3+ дисциплины ИТМО, 150+ студентов. B2B: 2–3 партнёра — например, другой вуз или 2–3 хакатона; можно начать с пилотного проекта до продажи. От акселератора нужны менторы по B2B-продажам, выход на вузы и организаторов, юридическая и финансовая упаковка.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A2197C3-077E-41F9-983C-899063D7A18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[Q&amp;A] КОМАНДА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Нас шесть человек — полный цикл: продукт, фронтенд, бэкенд, аналитика и организация. Контакты в Telegram на слайде — пишите.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583104E-93A0-4397-891C-1DC7C6F1E0F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[2:45] ФИНАЛ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Спасибо! Мы — работающий продукт с четырёхлетним внедрением в ИТМО и понятной моделью монетизации. Готовы отвечать на вопросы.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BE0E5B4-F74E-46F0-BAFD-97F73E97BC4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ПРИЛОЖЕНИЕ ДЛЯ Q&amp;A — НЕ ПОКАЗЫВАТЬ В 3 МИНУТАХ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Архитектура: бэкенд на FastAPI со слоями api → services → repository, SQLAlchemy async, Alembic и Unit of Work. Фронтенд — React 18, TypeScript, Vite, TanStack Query. Инфраструктура — PostgreSQL, Docker, nginx edge, CI/CD и мониторинг Prometheus + Grafana. Итого 49 таблиц, 181 эндпоинт, 21 модуль API и 36 страниц.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471ABA7-A321-4B8B-A841-C4BE18C4D30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Три независимых слоя доступа: глобальная роль (admin/teacher/manager/member, 52 права), роль в пространстве и права создателя. Права выдаются декларативно через permission_required("entity:action"), раздел /admin/* — только для глобального админа.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D184E39-A960-4AD9-AF75-6E7C2B9C2E7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Данные хранятся на сервере в России. JWT-сессии, сброс пароля по одноразовому токену, подтверждение e-mail, аудит действий и история изменений задач, разграничение доступа по роли и владельцу объекта.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CD9702C-F4F0-4FEC-B499-78898461909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Заготовки ответов на частые вопросы трекера: почему не Notion/Trello, как зарабатываем, кто первый платящий клиент, данные и 152-ФЗ, кто платит, почему мы, юнит-экономика, что за 3 месяца. Держим под рукой, чтобы отвечать без пауз.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B5E394A-E195-46ED-9694-CE5CB87C812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Сравнение по критериям. Зарубежные PBL- (Riipen/Practera) выигрывают в связке с компаниями, но не дают контура команды внутри вуза и не хостятся в РФ. Российские аналоги — маркетплейс проектов и госпрограмма. Косвенные — трекеры и LMS — не покрывают распределение по командам, канбан+ТЗ+вики и оценивание одновременно. Полное совпадение по всем критериям — только у EduFlow.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0FFDBB7-DB5E-4FC4-9527-F3F1EA51B2E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Application>LibreOffice/24.2.7.2$Linux_X86_64 LibreOffice_project/420$Build-2</Application>
  <AppVersion>15.0000</AppVersion>
  <Words>0</Words>
  <Paragraphs>0</Paragraphs>
  <Company>Created by Marp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2026-10-13T13:38:00Z</dcterms:created>
  <dc:creator>Created by Marp</dc:creator>
  <dc:description/>
  <dc:language>en-US</dc:language>
  <cp:lastModifiedBy/>
  <dcterms:modified xsi:type="dcterms:W3CDTF">2026-10-13T18:24:34Z</dcterms:modified>
  <cp:revision>3</cp:revision>
  <dc:subject>PptxGenJS Presentation</dc:subject>
  <dc:title>Проблема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21</vt:i4>
  </property>
  <property fmtid="{D5CDD505-2E9C-101B-9397-08002B2CF9AE}" pid="3" name="PresentationFormat">
    <vt:lpwstr>On-screen Show (16:9)</vt:lpwstr>
  </property>
  <property fmtid="{D5CDD505-2E9C-101B-9397-08002B2CF9AE}" pid="4" name="Slides">
    <vt:i4>21</vt:i4>
  </property>
</Properties>
</file>